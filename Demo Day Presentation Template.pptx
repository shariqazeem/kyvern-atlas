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Montserrat" charset="1" panose="00000500000000000000"/>
      <p:regular r:id="rId21"/>
    </p:embeddedFont>
    <p:embeddedFont>
      <p:font typeface="Montserrat Italic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7.png" Type="http://schemas.openxmlformats.org/officeDocument/2006/relationships/image"/><Relationship Id="rId4" Target="../media/image1.jpe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6602" y="6101905"/>
            <a:ext cx="5905500" cy="5905500"/>
            <a:chOff x="0" y="0"/>
            <a:chExt cx="7874000" cy="78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0" y="3937000"/>
                  </a:moveTo>
                  <a:cubicBezTo>
                    <a:pt x="0" y="1762633"/>
                    <a:pt x="1762633" y="0"/>
                    <a:pt x="3937000" y="0"/>
                  </a:cubicBezTo>
                  <a:cubicBezTo>
                    <a:pt x="6111367" y="0"/>
                    <a:pt x="7874000" y="1762633"/>
                    <a:pt x="7874000" y="3937000"/>
                  </a:cubicBezTo>
                  <a:cubicBezTo>
                    <a:pt x="7874000" y="6111367"/>
                    <a:pt x="6111367" y="7874000"/>
                    <a:pt x="3937000" y="7874000"/>
                  </a:cubicBezTo>
                  <a:cubicBezTo>
                    <a:pt x="1762633" y="7874000"/>
                    <a:pt x="0" y="6111367"/>
                    <a:pt x="0" y="3937000"/>
                  </a:cubicBezTo>
                  <a:close/>
                </a:path>
              </a:pathLst>
            </a:custGeom>
            <a:solidFill>
              <a:srgbClr val="DC1FFF">
                <a:alpha val="14118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08512" y="68713"/>
            <a:ext cx="4953000" cy="4953000"/>
            <a:chOff x="0" y="0"/>
            <a:chExt cx="6604000" cy="660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3302000"/>
                  </a:moveTo>
                  <a:cubicBezTo>
                    <a:pt x="0" y="1478407"/>
                    <a:pt x="1478407" y="0"/>
                    <a:pt x="3302000" y="0"/>
                  </a:cubicBezTo>
                  <a:cubicBezTo>
                    <a:pt x="5125593" y="0"/>
                    <a:pt x="6604000" y="1478407"/>
                    <a:pt x="6604000" y="3302000"/>
                  </a:cubicBezTo>
                  <a:cubicBezTo>
                    <a:pt x="6604000" y="5125593"/>
                    <a:pt x="5125593" y="6604000"/>
                    <a:pt x="3302000" y="6604000"/>
                  </a:cubicBezTo>
                  <a:cubicBezTo>
                    <a:pt x="1478407" y="6604000"/>
                    <a:pt x="0" y="5125593"/>
                    <a:pt x="0" y="3302000"/>
                  </a:cubicBezTo>
                  <a:close/>
                </a:path>
              </a:pathLst>
            </a:custGeom>
            <a:solidFill>
              <a:srgbClr val="14F195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3456" y="7631459"/>
            <a:ext cx="10865036" cy="590550"/>
            <a:chOff x="0" y="0"/>
            <a:chExt cx="14486715" cy="787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6753" cy="787400"/>
            </a:xfrm>
            <a:custGeom>
              <a:avLst/>
              <a:gdLst/>
              <a:ahLst/>
              <a:cxnLst/>
              <a:rect r="r" b="b" t="t" l="l"/>
              <a:pathLst>
                <a:path h="787400" w="14486753">
                  <a:moveTo>
                    <a:pt x="0" y="393700"/>
                  </a:moveTo>
                  <a:cubicBezTo>
                    <a:pt x="0" y="176276"/>
                    <a:pt x="192836" y="0"/>
                    <a:pt x="430686" y="0"/>
                  </a:cubicBezTo>
                  <a:lnTo>
                    <a:pt x="14056069" y="0"/>
                  </a:lnTo>
                  <a:cubicBezTo>
                    <a:pt x="14293920" y="0"/>
                    <a:pt x="14486753" y="176276"/>
                    <a:pt x="14486753" y="393700"/>
                  </a:cubicBezTo>
                  <a:cubicBezTo>
                    <a:pt x="14486753" y="611124"/>
                    <a:pt x="14293920" y="787400"/>
                    <a:pt x="14056069" y="787400"/>
                  </a:cubicBezTo>
                  <a:lnTo>
                    <a:pt x="430686" y="787400"/>
                  </a:lnTo>
                  <a:cubicBezTo>
                    <a:pt x="192836" y="787400"/>
                    <a:pt x="0" y="611124"/>
                    <a:pt x="0" y="3937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702" r="8587" b="-277702"/>
              </a:stretch>
            </a:blipFill>
            <a:ln w="14288" cap="sq">
              <a:solidFill>
                <a:srgbClr val="14F19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71588" y="7888634"/>
            <a:ext cx="76200" cy="76200"/>
            <a:chOff x="0" y="0"/>
            <a:chExt cx="1016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4F195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68330" y="-339680"/>
            <a:ext cx="4295350" cy="2418168"/>
          </a:xfrm>
          <a:custGeom>
            <a:avLst/>
            <a:gdLst/>
            <a:ahLst/>
            <a:cxnLst/>
            <a:rect r="r" b="b" t="t" l="l"/>
            <a:pathLst>
              <a:path h="2418168" w="4295350">
                <a:moveTo>
                  <a:pt x="0" y="0"/>
                </a:moveTo>
                <a:lnTo>
                  <a:pt x="4295350" y="0"/>
                </a:lnTo>
                <a:lnTo>
                  <a:pt x="4295350" y="2418168"/>
                </a:lnTo>
                <a:lnTo>
                  <a:pt x="0" y="2418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762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16003" y="2951801"/>
            <a:ext cx="5862106" cy="24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b="true" sz="1608" spc="514">
                <a:solidFill>
                  <a:srgbClr val="14F1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 DAY · PITCH DECK 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3525904"/>
            <a:ext cx="12093336" cy="209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1"/>
              </a:lnSpc>
            </a:pPr>
            <a:r>
              <a:rPr lang="en-US" sz="9153" spc="-136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5-Minute Pitch, Structured.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003" y="5779949"/>
            <a:ext cx="10475306" cy="978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7"/>
              </a:lnSpc>
            </a:pPr>
            <a:r>
              <a:rPr lang="en-US" sz="2473">
                <a:solidFill>
                  <a:srgbClr val="F3F1FF">
                    <a:alpha val="77647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— Pakistan </a:t>
            </a:r>
          </a:p>
          <a:p>
            <a:pPr algn="l">
              <a:lnSpc>
                <a:spcPts val="4007"/>
              </a:lnSpc>
            </a:pPr>
            <a:r>
              <a:rPr lang="en-US" sz="2473">
                <a:solidFill>
                  <a:srgbClr val="F3F1FF">
                    <a:alpha val="77647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Demo Day deck for shortlisted teams.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1137" y="7805290"/>
            <a:ext cx="103673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66">
                <a:solidFill>
                  <a:srgbClr val="14F1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Duplicate this deck, keep the structure, replace every placeholder with your project.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6003" y="9621841"/>
            <a:ext cx="53517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270">
                <a:solidFill>
                  <a:srgbClr val="F3F1FF">
                    <a:alpha val="4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941041"/>
            <a:ext cx="666750" cy="666750"/>
            <a:chOff x="0" y="0"/>
            <a:chExt cx="889000" cy="88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2525" y="1102966"/>
            <a:ext cx="342900" cy="342900"/>
            <a:chOff x="0" y="0"/>
            <a:chExt cx="457200" cy="457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98216" y="828265"/>
            <a:ext cx="8900368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to use this template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003" y="1716976"/>
            <a:ext cx="14665328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Six rules that make pitches land at Demo Day. Read these once, then start replacing the placeholders.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3129858"/>
            <a:ext cx="5257800" cy="3064221"/>
            <a:chOff x="0" y="0"/>
            <a:chExt cx="7010400" cy="40856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3806190"/>
                  </a:lnTo>
                  <a:cubicBezTo>
                    <a:pt x="7010400" y="3960495"/>
                    <a:pt x="6885305" y="4085590"/>
                    <a:pt x="6731000" y="4085590"/>
                  </a:cubicBezTo>
                  <a:lnTo>
                    <a:pt x="279400" y="4085590"/>
                  </a:lnTo>
                  <a:cubicBezTo>
                    <a:pt x="125095" y="4085590"/>
                    <a:pt x="0" y="3960495"/>
                    <a:pt x="0" y="3806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33500" y="3472758"/>
            <a:ext cx="609600" cy="6096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85900" y="3625158"/>
            <a:ext cx="304800" cy="304800"/>
            <a:chOff x="0" y="0"/>
            <a:chExt cx="406400" cy="4064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8903" y="4183952"/>
            <a:ext cx="282155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Keep the structure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8903" y="4631627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Same slide order, same headings. Judges compare decks side by side.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15100" y="3129858"/>
            <a:ext cx="5257800" cy="3064221"/>
            <a:chOff x="0" y="0"/>
            <a:chExt cx="7010400" cy="40856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104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3806190"/>
                  </a:lnTo>
                  <a:cubicBezTo>
                    <a:pt x="7010400" y="3960495"/>
                    <a:pt x="6885305" y="4085590"/>
                    <a:pt x="6731000" y="4085590"/>
                  </a:cubicBezTo>
                  <a:lnTo>
                    <a:pt x="279400" y="4085590"/>
                  </a:lnTo>
                  <a:cubicBezTo>
                    <a:pt x="125095" y="4085590"/>
                    <a:pt x="0" y="3960495"/>
                    <a:pt x="0" y="3806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58000" y="3472758"/>
            <a:ext cx="609600" cy="6096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14F195">
                <a:alpha val="2353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010400" y="3625158"/>
            <a:ext cx="304800" cy="304800"/>
            <a:chOff x="0" y="0"/>
            <a:chExt cx="406400" cy="4064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83403" y="4183952"/>
            <a:ext cx="2264866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minutes total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83403" y="4631627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Hit hard, leave time for Q&amp;A. Rehearse with a timer, twice.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39600" y="3129858"/>
            <a:ext cx="5257800" cy="3064221"/>
            <a:chOff x="0" y="0"/>
            <a:chExt cx="7010400" cy="40856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104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3806190"/>
                  </a:lnTo>
                  <a:cubicBezTo>
                    <a:pt x="7010400" y="3960495"/>
                    <a:pt x="6885305" y="4085590"/>
                    <a:pt x="6731000" y="4085590"/>
                  </a:cubicBezTo>
                  <a:lnTo>
                    <a:pt x="279400" y="4085590"/>
                  </a:lnTo>
                  <a:cubicBezTo>
                    <a:pt x="125095" y="4085590"/>
                    <a:pt x="0" y="3960495"/>
                    <a:pt x="0" y="3806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82500" y="3472758"/>
            <a:ext cx="609600" cy="60960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DC1FFF">
                <a:alpha val="1176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34900" y="3625158"/>
            <a:ext cx="304800" cy="304800"/>
            <a:chOff x="0" y="0"/>
            <a:chExt cx="406400" cy="406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407903" y="4183952"/>
            <a:ext cx="2704356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idea per slide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07903" y="4631627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If a slide has two points, it's two slides — or one of them is filler.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0600" y="6460779"/>
            <a:ext cx="5257800" cy="3064221"/>
            <a:chOff x="0" y="0"/>
            <a:chExt cx="7010400" cy="40856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104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3806190"/>
                  </a:lnTo>
                  <a:cubicBezTo>
                    <a:pt x="7010400" y="3960495"/>
                    <a:pt x="6885305" y="4085590"/>
                    <a:pt x="6731000" y="4085590"/>
                  </a:cubicBezTo>
                  <a:lnTo>
                    <a:pt x="279400" y="4085590"/>
                  </a:lnTo>
                  <a:cubicBezTo>
                    <a:pt x="125095" y="4085590"/>
                    <a:pt x="0" y="3960495"/>
                    <a:pt x="0" y="3806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33500" y="6803679"/>
            <a:ext cx="609600" cy="6096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14F195">
                <a:alpha val="2353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85900" y="6956079"/>
            <a:ext cx="304800" cy="304800"/>
            <a:chOff x="0" y="0"/>
            <a:chExt cx="406400" cy="4064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58903" y="7514882"/>
            <a:ext cx="3012132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Lead with the demo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8903" y="7962557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A working product beats every slide. Get to it within 90 seconds.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15100" y="6460779"/>
            <a:ext cx="5257800" cy="3064221"/>
            <a:chOff x="0" y="0"/>
            <a:chExt cx="7010400" cy="40856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104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3806190"/>
                  </a:lnTo>
                  <a:cubicBezTo>
                    <a:pt x="7010400" y="3960495"/>
                    <a:pt x="6885305" y="4085590"/>
                    <a:pt x="6731000" y="4085590"/>
                  </a:cubicBezTo>
                  <a:lnTo>
                    <a:pt x="279400" y="4085590"/>
                  </a:lnTo>
                  <a:cubicBezTo>
                    <a:pt x="125095" y="4085590"/>
                    <a:pt x="0" y="3960495"/>
                    <a:pt x="0" y="3806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58000" y="6803679"/>
            <a:ext cx="609600" cy="609600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010400" y="6956079"/>
            <a:ext cx="304800" cy="304800"/>
            <a:chOff x="0" y="0"/>
            <a:chExt cx="406400" cy="4064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6883403" y="7514882"/>
            <a:ext cx="266067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Show, don't claim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883403" y="7962557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Replace adjectives with screenshots, numbers, and on-chain links.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039600" y="6460779"/>
            <a:ext cx="5257800" cy="3064221"/>
            <a:chOff x="0" y="0"/>
            <a:chExt cx="7010400" cy="408562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10400" cy="4085590"/>
            </a:xfrm>
            <a:custGeom>
              <a:avLst/>
              <a:gdLst/>
              <a:ahLst/>
              <a:cxnLst/>
              <a:rect r="r" b="b" t="t" l="l"/>
              <a:pathLst>
                <a:path h="408559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3806190"/>
                  </a:lnTo>
                  <a:cubicBezTo>
                    <a:pt x="7010400" y="3960495"/>
                    <a:pt x="6885305" y="4085590"/>
                    <a:pt x="6731000" y="4085590"/>
                  </a:cubicBezTo>
                  <a:lnTo>
                    <a:pt x="279400" y="4085590"/>
                  </a:lnTo>
                  <a:cubicBezTo>
                    <a:pt x="125095" y="4085590"/>
                    <a:pt x="0" y="3960495"/>
                    <a:pt x="0" y="380619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82500" y="6803679"/>
            <a:ext cx="609600" cy="609600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DC1FFF">
                <a:alpha val="1176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34900" y="6956079"/>
            <a:ext cx="304800" cy="304800"/>
            <a:chOff x="0" y="0"/>
            <a:chExt cx="406400" cy="40640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407903" y="7514882"/>
            <a:ext cx="2523753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 with the ask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07903" y="7962557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Funding, partners, users — be exact. Vague asks get vague help.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7111539" y="9721853"/>
            <a:ext cx="238199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4500" y="-190500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512DA8">
                <a:alpha val="51765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524000" y="6667500"/>
            <a:ext cx="5334000" cy="5334000"/>
            <a:chOff x="0" y="0"/>
            <a:chExt cx="7112000" cy="711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112000" cy="7112000"/>
            </a:xfrm>
            <a:custGeom>
              <a:avLst/>
              <a:gdLst/>
              <a:ahLst/>
              <a:cxnLst/>
              <a:rect r="r" b="b" t="t" l="l"/>
              <a:pathLst>
                <a:path h="7112000" w="7112000">
                  <a:moveTo>
                    <a:pt x="0" y="3556000"/>
                  </a:moveTo>
                  <a:cubicBezTo>
                    <a:pt x="0" y="1592072"/>
                    <a:pt x="1592072" y="0"/>
                    <a:pt x="3556000" y="0"/>
                  </a:cubicBezTo>
                  <a:cubicBezTo>
                    <a:pt x="5519928" y="0"/>
                    <a:pt x="7112000" y="1592072"/>
                    <a:pt x="7112000" y="3556000"/>
                  </a:cubicBezTo>
                  <a:cubicBezTo>
                    <a:pt x="7112000" y="5519928"/>
                    <a:pt x="5519928" y="7112000"/>
                    <a:pt x="3556000" y="7112000"/>
                  </a:cubicBezTo>
                  <a:cubicBezTo>
                    <a:pt x="1592072" y="7112000"/>
                    <a:pt x="0" y="5519928"/>
                    <a:pt x="0" y="3556000"/>
                  </a:cubicBezTo>
                  <a:close/>
                </a:path>
              </a:pathLst>
            </a:custGeom>
            <a:solidFill>
              <a:srgbClr val="DC1FFF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57117" y="5657850"/>
            <a:ext cx="4381500" cy="4381500"/>
            <a:chOff x="0" y="0"/>
            <a:chExt cx="5842000" cy="584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42000" cy="5842000"/>
            </a:xfrm>
            <a:custGeom>
              <a:avLst/>
              <a:gdLst/>
              <a:ahLst/>
              <a:cxnLst/>
              <a:rect r="r" b="b" t="t" l="l"/>
              <a:pathLst>
                <a:path h="5842000" w="5842000">
                  <a:moveTo>
                    <a:pt x="0" y="2921000"/>
                  </a:moveTo>
                  <a:cubicBezTo>
                    <a:pt x="0" y="1307719"/>
                    <a:pt x="1307719" y="0"/>
                    <a:pt x="2921000" y="0"/>
                  </a:cubicBezTo>
                  <a:cubicBezTo>
                    <a:pt x="4534281" y="0"/>
                    <a:pt x="5842000" y="1307719"/>
                    <a:pt x="5842000" y="2921000"/>
                  </a:cubicBezTo>
                  <a:cubicBezTo>
                    <a:pt x="5842000" y="4534281"/>
                    <a:pt x="4534281" y="5842000"/>
                    <a:pt x="2921000" y="5842000"/>
                  </a:cubicBezTo>
                  <a:cubicBezTo>
                    <a:pt x="1307719" y="5842000"/>
                    <a:pt x="0" y="4534281"/>
                    <a:pt x="0" y="2921000"/>
                  </a:cubicBezTo>
                  <a:close/>
                </a:path>
              </a:pathLst>
            </a:custGeom>
            <a:solidFill>
              <a:srgbClr val="14F195">
                <a:alpha val="3922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6003" y="3244406"/>
            <a:ext cx="76041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540">
                <a:solidFill>
                  <a:srgbClr val="14F1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BUILD ON SOLANA WITH KAST · PAKISTAN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8215" y="3815905"/>
            <a:ext cx="13821742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0500" spc="-157">
                <a:solidFill>
                  <a:srgbClr val="A39EC7"/>
                </a:solidFill>
                <a:latin typeface="Montserrat"/>
                <a:ea typeface="Montserrat"/>
                <a:cs typeface="Montserrat"/>
                <a:sym typeface="Montserrat"/>
              </a:rPr>
              <a:t>[ Your Project Name 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003" y="5378005"/>
            <a:ext cx="11628686" cy="5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4"/>
              </a:lnSpc>
            </a:pPr>
            <a:r>
              <a:rPr lang="en-US" sz="3150">
                <a:solidFill>
                  <a:srgbClr val="14F195">
                    <a:alpha val="74902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[ One-line description: what you do, for whom, on Solana. 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003" y="6698113"/>
            <a:ext cx="63698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70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6974338"/>
            <a:ext cx="210889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682A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Founder names 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59013" y="6698113"/>
            <a:ext cx="124286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70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CATEGORY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59013" y="6974338"/>
            <a:ext cx="19792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682A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Main / Student 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17422" y="6698113"/>
            <a:ext cx="106717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70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LIVE URL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17422" y="6974338"/>
            <a:ext cx="20016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682A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yourproject.xyz 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003" y="9655178"/>
            <a:ext cx="198715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43">
                <a:solidFill>
                  <a:srgbClr val="F3F1FF">
                    <a:alpha val="34902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SLIDE 01 · COVER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1600" y="566738"/>
            <a:ext cx="128810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1267120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2525" y="1429045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11353" y="1227782"/>
            <a:ext cx="4527724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2043055"/>
            <a:ext cx="15209193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Open with the pain you noticed. Make it concrete — a person, a moment, a number.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0097" y="3208592"/>
            <a:ext cx="2566988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GOES HERE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9313" y="3584829"/>
            <a:ext cx="8493109" cy="1757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Name the user and the painful job they're stuck doing today.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Explain why existing tools (web2 or other chains) fall short.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Anchor it with one statistic, quote, or moment of frustration.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Keep it under 30 seconds — the demo is what sells.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05016" y="2753620"/>
            <a:ext cx="7492308" cy="6771380"/>
            <a:chOff x="0" y="0"/>
            <a:chExt cx="9989744" cy="90285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89693" cy="9028430"/>
            </a:xfrm>
            <a:custGeom>
              <a:avLst/>
              <a:gdLst/>
              <a:ahLst/>
              <a:cxnLst/>
              <a:rect r="r" b="b" t="t" l="l"/>
              <a:pathLst>
                <a:path h="9028430" w="9989693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9710293" y="0"/>
                  </a:lnTo>
                  <a:cubicBezTo>
                    <a:pt x="9864599" y="0"/>
                    <a:pt x="9989693" y="125095"/>
                    <a:pt x="9989693" y="279400"/>
                  </a:cubicBezTo>
                  <a:lnTo>
                    <a:pt x="9989693" y="8749030"/>
                  </a:lnTo>
                  <a:cubicBezTo>
                    <a:pt x="9989693" y="8903336"/>
                    <a:pt x="9864599" y="9028430"/>
                    <a:pt x="9710293" y="9028430"/>
                  </a:cubicBezTo>
                  <a:lnTo>
                    <a:pt x="279400" y="9028430"/>
                  </a:lnTo>
                  <a:cubicBezTo>
                    <a:pt x="125095" y="9028430"/>
                    <a:pt x="0" y="8903336"/>
                    <a:pt x="0" y="87490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21457" y="3674381"/>
            <a:ext cx="285943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500" spc="330">
                <a:solidFill>
                  <a:srgbClr val="8B87A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HEADLINE STATISTIC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16917" y="4305704"/>
            <a:ext cx="4068514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sz="13500" i="true" spc="-405">
                <a:solidFill>
                  <a:srgbClr val="DC1FFF">
                    <a:alpha val="44706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## 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21993" y="6689627"/>
            <a:ext cx="4658363" cy="1181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19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Replace with a single sentence describing what this number means and where it's from. 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111539" y="9721853"/>
            <a:ext cx="238497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1600" y="566738"/>
            <a:ext cx="128810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941041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2525" y="1102966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11353" y="901703"/>
            <a:ext cx="4776639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Solution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1843983"/>
            <a:ext cx="16306800" cy="1300162"/>
            <a:chOff x="0" y="0"/>
            <a:chExt cx="21742400" cy="17335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42400" cy="1733550"/>
            </a:xfrm>
            <a:custGeom>
              <a:avLst/>
              <a:gdLst/>
              <a:ahLst/>
              <a:cxnLst/>
              <a:rect r="r" b="b" t="t" l="l"/>
              <a:pathLst>
                <a:path h="1733550" w="21742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1513800" y="0"/>
                  </a:lnTo>
                  <a:cubicBezTo>
                    <a:pt x="21640037" y="0"/>
                    <a:pt x="21742400" y="102362"/>
                    <a:pt x="21742400" y="228600"/>
                  </a:cubicBezTo>
                  <a:lnTo>
                    <a:pt x="21742400" y="1504950"/>
                  </a:lnTo>
                  <a:cubicBezTo>
                    <a:pt x="21742400" y="1631188"/>
                    <a:pt x="21640037" y="1733550"/>
                    <a:pt x="21513800" y="1733550"/>
                  </a:cubicBezTo>
                  <a:lnTo>
                    <a:pt x="228600" y="1733550"/>
                  </a:lnTo>
                  <a:cubicBezTo>
                    <a:pt x="102362" y="1733550"/>
                    <a:pt x="0" y="1631188"/>
                    <a:pt x="0" y="150495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97003" y="2155127"/>
            <a:ext cx="134332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297">
                <a:solidFill>
                  <a:srgbClr val="FFFFFF">
                    <a:alpha val="64706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ONE-LINER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7003" y="2355152"/>
            <a:ext cx="6463680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 let </a:t>
            </a:r>
            <a:r>
              <a:rPr lang="en-US" sz="285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X ] </a:t>
            </a: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 </a:t>
            </a:r>
            <a:r>
              <a:rPr lang="en-US" sz="285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Y ] </a:t>
            </a: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 they can </a:t>
            </a:r>
            <a:r>
              <a:rPr lang="en-US" sz="2850" i="true">
                <a:solidFill>
                  <a:srgbClr val="FFFFFF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Z ]</a:t>
            </a:r>
            <a:r>
              <a:rPr lang="en-US" sz="28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0600" y="3563245"/>
            <a:ext cx="5257800" cy="5961755"/>
            <a:chOff x="0" y="0"/>
            <a:chExt cx="7010400" cy="79490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10400" cy="7948930"/>
            </a:xfrm>
            <a:custGeom>
              <a:avLst/>
              <a:gdLst/>
              <a:ahLst/>
              <a:cxnLst/>
              <a:rect r="r" b="b" t="t" l="l"/>
              <a:pathLst>
                <a:path h="794893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7669530"/>
                  </a:lnTo>
                  <a:cubicBezTo>
                    <a:pt x="7010400" y="7823836"/>
                    <a:pt x="6885305" y="7948930"/>
                    <a:pt x="6731000" y="7948930"/>
                  </a:cubicBezTo>
                  <a:lnTo>
                    <a:pt x="279400" y="7948930"/>
                  </a:lnTo>
                  <a:cubicBezTo>
                    <a:pt x="125095" y="7948930"/>
                    <a:pt x="0" y="7823836"/>
                    <a:pt x="0" y="76695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33500" y="3906145"/>
            <a:ext cx="609600" cy="6096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85900" y="4058545"/>
            <a:ext cx="304800" cy="304800"/>
            <a:chOff x="0" y="0"/>
            <a:chExt cx="406400" cy="4064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58903" y="4617339"/>
            <a:ext cx="1919436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it does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8903" y="5065014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The single sentence a user would say to a friend after trying it. ]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15100" y="3563245"/>
            <a:ext cx="5257800" cy="5961755"/>
            <a:chOff x="0" y="0"/>
            <a:chExt cx="7010400" cy="794900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10400" cy="7948930"/>
            </a:xfrm>
            <a:custGeom>
              <a:avLst/>
              <a:gdLst/>
              <a:ahLst/>
              <a:cxnLst/>
              <a:rect r="r" b="b" t="t" l="l"/>
              <a:pathLst>
                <a:path h="794893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7669530"/>
                  </a:lnTo>
                  <a:cubicBezTo>
                    <a:pt x="7010400" y="7823836"/>
                    <a:pt x="6885305" y="7948930"/>
                    <a:pt x="6731000" y="7948930"/>
                  </a:cubicBezTo>
                  <a:lnTo>
                    <a:pt x="279400" y="7948930"/>
                  </a:lnTo>
                  <a:cubicBezTo>
                    <a:pt x="125095" y="7948930"/>
                    <a:pt x="0" y="7823836"/>
                    <a:pt x="0" y="76695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858000" y="3906145"/>
            <a:ext cx="609600" cy="60960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DC1FFF">
                <a:alpha val="1176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010400" y="4058545"/>
            <a:ext cx="304800" cy="304800"/>
            <a:chOff x="0" y="0"/>
            <a:chExt cx="406400" cy="4064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883403" y="4617339"/>
            <a:ext cx="2600623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it's different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83403" y="5065014"/>
            <a:ext cx="4658363" cy="73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The one thing competitors can't or won't do. Be specific. ]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039600" y="3563245"/>
            <a:ext cx="5257800" cy="5961755"/>
            <a:chOff x="0" y="0"/>
            <a:chExt cx="7010400" cy="794900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10400" cy="7948930"/>
            </a:xfrm>
            <a:custGeom>
              <a:avLst/>
              <a:gdLst/>
              <a:ahLst/>
              <a:cxnLst/>
              <a:rect r="r" b="b" t="t" l="l"/>
              <a:pathLst>
                <a:path h="7948930" w="70104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6731000" y="0"/>
                  </a:lnTo>
                  <a:cubicBezTo>
                    <a:pt x="6885305" y="0"/>
                    <a:pt x="7010400" y="125095"/>
                    <a:pt x="7010400" y="279400"/>
                  </a:cubicBezTo>
                  <a:lnTo>
                    <a:pt x="7010400" y="7669530"/>
                  </a:lnTo>
                  <a:cubicBezTo>
                    <a:pt x="7010400" y="7823836"/>
                    <a:pt x="6885305" y="7948930"/>
                    <a:pt x="6731000" y="7948930"/>
                  </a:cubicBezTo>
                  <a:lnTo>
                    <a:pt x="279400" y="7948930"/>
                  </a:lnTo>
                  <a:cubicBezTo>
                    <a:pt x="125095" y="7948930"/>
                    <a:pt x="0" y="7823836"/>
                    <a:pt x="0" y="76695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382500" y="3906145"/>
            <a:ext cx="609600" cy="6096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14F195">
                <a:alpha val="2353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534900" y="4058545"/>
            <a:ext cx="304800" cy="304800"/>
            <a:chOff x="0" y="0"/>
            <a:chExt cx="406400" cy="4064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407903" y="4617339"/>
            <a:ext cx="178712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25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Solana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07903" y="5065014"/>
            <a:ext cx="4658363" cy="1118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The capability — speed, cost, composability — that makes this only possible here. ]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7111539" y="9721853"/>
            <a:ext cx="25516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524000" y="-1714500"/>
            <a:ext cx="5905500" cy="5905500"/>
            <a:chOff x="0" y="0"/>
            <a:chExt cx="7874000" cy="787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0" y="3937000"/>
                  </a:moveTo>
                  <a:cubicBezTo>
                    <a:pt x="0" y="1762633"/>
                    <a:pt x="1762633" y="0"/>
                    <a:pt x="3937000" y="0"/>
                  </a:cubicBezTo>
                  <a:cubicBezTo>
                    <a:pt x="6111367" y="0"/>
                    <a:pt x="7874000" y="1762633"/>
                    <a:pt x="7874000" y="3937000"/>
                  </a:cubicBezTo>
                  <a:cubicBezTo>
                    <a:pt x="7874000" y="6111367"/>
                    <a:pt x="6111367" y="7874000"/>
                    <a:pt x="3937000" y="7874000"/>
                  </a:cubicBezTo>
                  <a:cubicBezTo>
                    <a:pt x="1762633" y="7874000"/>
                    <a:pt x="0" y="6111367"/>
                    <a:pt x="0" y="3937000"/>
                  </a:cubicBezTo>
                  <a:close/>
                </a:path>
              </a:pathLst>
            </a:custGeom>
            <a:solidFill>
              <a:srgbClr val="512DA8">
                <a:alpha val="40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68500" y="6858000"/>
            <a:ext cx="4953000" cy="4953000"/>
            <a:chOff x="0" y="0"/>
            <a:chExt cx="6604000" cy="660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3302000"/>
                  </a:moveTo>
                  <a:cubicBezTo>
                    <a:pt x="0" y="1478407"/>
                    <a:pt x="1478407" y="0"/>
                    <a:pt x="3302000" y="0"/>
                  </a:cubicBezTo>
                  <a:cubicBezTo>
                    <a:pt x="5125593" y="0"/>
                    <a:pt x="6604000" y="1478407"/>
                    <a:pt x="6604000" y="3302000"/>
                  </a:cubicBezTo>
                  <a:cubicBezTo>
                    <a:pt x="6604000" y="5125593"/>
                    <a:pt x="5125593" y="6604000"/>
                    <a:pt x="3302000" y="6604000"/>
                  </a:cubicBezTo>
                  <a:cubicBezTo>
                    <a:pt x="1478407" y="6604000"/>
                    <a:pt x="0" y="5125593"/>
                    <a:pt x="0" y="3302000"/>
                  </a:cubicBezTo>
                  <a:close/>
                </a:path>
              </a:pathLst>
            </a:custGeom>
            <a:solidFill>
              <a:srgbClr val="DC1FFF">
                <a:alpha val="1058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12432" y="5657850"/>
            <a:ext cx="3810000" cy="3810000"/>
            <a:chOff x="0" y="0"/>
            <a:chExt cx="5080000" cy="508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8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080000">
                  <a:moveTo>
                    <a:pt x="0" y="2540000"/>
                  </a:moveTo>
                  <a:cubicBezTo>
                    <a:pt x="0" y="1137158"/>
                    <a:pt x="1137158" y="0"/>
                    <a:pt x="2540000" y="0"/>
                  </a:cubicBezTo>
                  <a:cubicBezTo>
                    <a:pt x="3942842" y="0"/>
                    <a:pt x="5080000" y="1137158"/>
                    <a:pt x="5080000" y="2540000"/>
                  </a:cubicBezTo>
                  <a:cubicBezTo>
                    <a:pt x="5080000" y="3942842"/>
                    <a:pt x="3942842" y="5080000"/>
                    <a:pt x="2540000" y="5080000"/>
                  </a:cubicBezTo>
                  <a:cubicBezTo>
                    <a:pt x="1137158" y="5080000"/>
                    <a:pt x="0" y="3942842"/>
                    <a:pt x="0" y="2540000"/>
                  </a:cubicBezTo>
                  <a:close/>
                </a:path>
              </a:pathLst>
            </a:custGeom>
            <a:solidFill>
              <a:srgbClr val="14F195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14F195">
                <a:alpha val="117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14F19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1600" y="566738"/>
            <a:ext cx="1288104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14F1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04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0600" y="1143419"/>
            <a:ext cx="666750" cy="666750"/>
            <a:chOff x="0" y="0"/>
            <a:chExt cx="889000" cy="88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14F195">
                <a:alpha val="1569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3000" y="1295819"/>
            <a:ext cx="361950" cy="361950"/>
            <a:chOff x="0" y="0"/>
            <a:chExt cx="482600" cy="4826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0" y="0"/>
                  </a:moveTo>
                  <a:lnTo>
                    <a:pt x="482600" y="0"/>
                  </a:lnTo>
                  <a:lnTo>
                    <a:pt x="482600" y="482600"/>
                  </a:lnTo>
                  <a:lnTo>
                    <a:pt x="0" y="48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11353" y="1104081"/>
            <a:ext cx="3763714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818166" y="1476794"/>
            <a:ext cx="321528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 spc="107">
                <a:solidFill>
                  <a:srgbClr val="14F195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— the heart of your pitch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39853" y="4627464"/>
            <a:ext cx="6640878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F3F1FF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Switch to the live product — not screenshots.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9853" y="5210346"/>
            <a:ext cx="6640878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F3F1FF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Walk through </a:t>
            </a:r>
            <a:r>
              <a:rPr lang="en-US" sz="2100" b="true">
                <a:solidFill>
                  <a:srgbClr val="FFFFFF">
                    <a:alpha val="84706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</a:t>
            </a:r>
            <a:r>
              <a:rPr lang="en-US" sz="2100">
                <a:solidFill>
                  <a:srgbClr val="F3F1FF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core flow end-to-end.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9853" y="5797991"/>
            <a:ext cx="6640878" cy="86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F3F1FF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Narrate what's happening on-chain as it happens.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9853" y="7147941"/>
            <a:ext cx="6640878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F3F1FF">
                    <a:alpha val="8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Always have a backup recording cued up.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325669" y="1986858"/>
            <a:ext cx="8981180" cy="7547667"/>
            <a:chOff x="0" y="0"/>
            <a:chExt cx="11974906" cy="10063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974957" cy="10063607"/>
            </a:xfrm>
            <a:custGeom>
              <a:avLst/>
              <a:gdLst/>
              <a:ahLst/>
              <a:cxnLst/>
              <a:rect r="r" b="b" t="t" l="l"/>
              <a:pathLst>
                <a:path h="10063607" w="11974957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lnTo>
                    <a:pt x="11669395" y="0"/>
                  </a:lnTo>
                  <a:cubicBezTo>
                    <a:pt x="11838177" y="0"/>
                    <a:pt x="11974957" y="136779"/>
                    <a:pt x="11974957" y="305562"/>
                  </a:cubicBezTo>
                  <a:lnTo>
                    <a:pt x="11974957" y="9758045"/>
                  </a:lnTo>
                  <a:cubicBezTo>
                    <a:pt x="11974957" y="9926827"/>
                    <a:pt x="11838177" y="10063607"/>
                    <a:pt x="11669395" y="10063607"/>
                  </a:cubicBezTo>
                  <a:lnTo>
                    <a:pt x="305562" y="10063607"/>
                  </a:lnTo>
                  <a:cubicBezTo>
                    <a:pt x="136779" y="10063607"/>
                    <a:pt x="0" y="9926828"/>
                    <a:pt x="0" y="9758045"/>
                  </a:cubicBezTo>
                  <a:close/>
                </a:path>
              </a:pathLst>
            </a:custGeom>
            <a:solidFill>
              <a:srgbClr val="14F195">
                <a:alpha val="0"/>
              </a:srgbClr>
            </a:solidFill>
            <a:ln w="19050" cap="sq">
              <a:solidFill>
                <a:srgbClr val="14F195"/>
              </a:solidFill>
              <a:prstDash val="dash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59059" y="4853435"/>
            <a:ext cx="914400" cy="914400"/>
            <a:chOff x="0" y="0"/>
            <a:chExt cx="121920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14F195">
                <a:alpha val="1569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587659" y="5082035"/>
            <a:ext cx="457200" cy="457200"/>
            <a:chOff x="0" y="0"/>
            <a:chExt cx="609600" cy="6096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070335" y="5955163"/>
            <a:ext cx="618425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i="true">
                <a:solidFill>
                  <a:srgbClr val="14F195">
                    <a:alpha val="69804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Embed a screenshot or demo video here 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37085" y="6455216"/>
            <a:ext cx="471606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Replace this frame with your live product surface.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F3F1FF">
                    <a:alpha val="4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11539" y="9721853"/>
            <a:ext cx="23901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14F1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1600" y="566738"/>
            <a:ext cx="157210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05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7744" y="1430899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9669" y="1592824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50852" y="1318123"/>
            <a:ext cx="4834235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It Works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3147" y="2206834"/>
            <a:ext cx="14276412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One flow, four steps. Skip the architecture diagram — judges want the journey.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7744" y="3129177"/>
            <a:ext cx="3648075" cy="1619250"/>
            <a:chOff x="0" y="0"/>
            <a:chExt cx="4864100" cy="2159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641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8641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4584700" y="0"/>
                  </a:lnTo>
                  <a:cubicBezTo>
                    <a:pt x="4739005" y="0"/>
                    <a:pt x="4864100" y="125095"/>
                    <a:pt x="4864100" y="279400"/>
                  </a:cubicBezTo>
                  <a:lnTo>
                    <a:pt x="4864100" y="1879600"/>
                  </a:lnTo>
                  <a:cubicBezTo>
                    <a:pt x="4864100" y="2033905"/>
                    <a:pt x="4739005" y="2159000"/>
                    <a:pt x="4584700" y="2159000"/>
                  </a:cubicBezTo>
                  <a:lnTo>
                    <a:pt x="279400" y="2159000"/>
                  </a:lnTo>
                  <a:cubicBezTo>
                    <a:pt x="125095" y="2159000"/>
                    <a:pt x="0" y="2033905"/>
                    <a:pt x="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5394" y="3395877"/>
            <a:ext cx="419100" cy="419100"/>
            <a:chOff x="0" y="0"/>
            <a:chExt cx="558800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7294" y="3395877"/>
            <a:ext cx="495300" cy="457200"/>
            <a:chOff x="0" y="0"/>
            <a:chExt cx="6604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6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t="0" r="-6843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60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823247" y="3455580"/>
            <a:ext cx="1361108" cy="30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0797" y="3897521"/>
            <a:ext cx="31965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5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What the user clicks / signs / submits. ]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741069" y="3748302"/>
            <a:ext cx="381000" cy="381000"/>
            <a:chOff x="0" y="0"/>
            <a:chExt cx="508000" cy="5080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217319" y="3129177"/>
            <a:ext cx="3648075" cy="1619250"/>
            <a:chOff x="0" y="0"/>
            <a:chExt cx="4864100" cy="2159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641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8641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4584700" y="0"/>
                  </a:lnTo>
                  <a:cubicBezTo>
                    <a:pt x="4739005" y="0"/>
                    <a:pt x="4864100" y="125095"/>
                    <a:pt x="4864100" y="279400"/>
                  </a:cubicBezTo>
                  <a:lnTo>
                    <a:pt x="4864100" y="1879600"/>
                  </a:lnTo>
                  <a:cubicBezTo>
                    <a:pt x="4864100" y="2033905"/>
                    <a:pt x="4739005" y="2159000"/>
                    <a:pt x="4584700" y="2159000"/>
                  </a:cubicBezTo>
                  <a:lnTo>
                    <a:pt x="279400" y="2159000"/>
                  </a:lnTo>
                  <a:cubicBezTo>
                    <a:pt x="125095" y="2159000"/>
                    <a:pt x="0" y="2033905"/>
                    <a:pt x="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464969" y="3395877"/>
            <a:ext cx="419100" cy="419100"/>
            <a:chOff x="0" y="0"/>
            <a:chExt cx="558800" cy="55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26869" y="3395877"/>
            <a:ext cx="495300" cy="457200"/>
            <a:chOff x="0" y="0"/>
            <a:chExt cx="6604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t="0" r="-6843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60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042822" y="3455580"/>
            <a:ext cx="1747242" cy="30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On-chain logic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90372" y="3897521"/>
            <a:ext cx="31965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5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The program / instruction that runs. ]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960644" y="3748302"/>
            <a:ext cx="381000" cy="381000"/>
            <a:chOff x="0" y="0"/>
            <a:chExt cx="508000" cy="5080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36894" y="3129177"/>
            <a:ext cx="3648075" cy="1619250"/>
            <a:chOff x="0" y="0"/>
            <a:chExt cx="4864100" cy="2159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641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8641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4584700" y="0"/>
                  </a:lnTo>
                  <a:cubicBezTo>
                    <a:pt x="4739005" y="0"/>
                    <a:pt x="4864100" y="125095"/>
                    <a:pt x="4864100" y="279400"/>
                  </a:cubicBezTo>
                  <a:lnTo>
                    <a:pt x="4864100" y="1879600"/>
                  </a:lnTo>
                  <a:cubicBezTo>
                    <a:pt x="4864100" y="2033905"/>
                    <a:pt x="4739005" y="2159000"/>
                    <a:pt x="4584700" y="2159000"/>
                  </a:cubicBezTo>
                  <a:lnTo>
                    <a:pt x="279400" y="2159000"/>
                  </a:lnTo>
                  <a:cubicBezTo>
                    <a:pt x="125095" y="2159000"/>
                    <a:pt x="0" y="2033905"/>
                    <a:pt x="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84544" y="3395877"/>
            <a:ext cx="419100" cy="419100"/>
            <a:chOff x="0" y="0"/>
            <a:chExt cx="558800" cy="55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46444" y="3395877"/>
            <a:ext cx="495300" cy="457200"/>
            <a:chOff x="0" y="0"/>
            <a:chExt cx="6604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t="0" r="-68434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660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262397" y="3455580"/>
            <a:ext cx="1668140" cy="30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Solana settles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09947" y="3897521"/>
            <a:ext cx="319656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5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Confirmed in ~400ms, near-zero fee. ]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180219" y="3748302"/>
            <a:ext cx="381000" cy="381000"/>
            <a:chOff x="0" y="0"/>
            <a:chExt cx="508000" cy="5080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656469" y="3129177"/>
            <a:ext cx="3648075" cy="1619250"/>
            <a:chOff x="0" y="0"/>
            <a:chExt cx="4864100" cy="2159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641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8641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4584700" y="0"/>
                  </a:lnTo>
                  <a:cubicBezTo>
                    <a:pt x="4739005" y="0"/>
                    <a:pt x="4864100" y="125095"/>
                    <a:pt x="4864100" y="279400"/>
                  </a:cubicBezTo>
                  <a:lnTo>
                    <a:pt x="4864100" y="1879600"/>
                  </a:lnTo>
                  <a:cubicBezTo>
                    <a:pt x="4864100" y="2033905"/>
                    <a:pt x="4739005" y="2159000"/>
                    <a:pt x="4584700" y="2159000"/>
                  </a:cubicBezTo>
                  <a:lnTo>
                    <a:pt x="279400" y="2159000"/>
                  </a:lnTo>
                  <a:cubicBezTo>
                    <a:pt x="125095" y="2159000"/>
                    <a:pt x="0" y="2033905"/>
                    <a:pt x="0" y="1879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04119" y="3395877"/>
            <a:ext cx="419100" cy="419100"/>
            <a:chOff x="0" y="0"/>
            <a:chExt cx="558800" cy="55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cubicBezTo>
                    <a:pt x="433705" y="0"/>
                    <a:pt x="558800" y="125095"/>
                    <a:pt x="558800" y="279400"/>
                  </a:cubicBezTo>
                  <a:cubicBezTo>
                    <a:pt x="558800" y="433705"/>
                    <a:pt x="433705" y="558800"/>
                    <a:pt x="279400" y="558800"/>
                  </a:cubicBezTo>
                  <a:cubicBezTo>
                    <a:pt x="125095" y="558800"/>
                    <a:pt x="0" y="433705"/>
                    <a:pt x="0" y="2794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866019" y="3395877"/>
            <a:ext cx="495300" cy="457200"/>
            <a:chOff x="0" y="0"/>
            <a:chExt cx="66040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0400" cy="609600"/>
            </a:xfrm>
            <a:custGeom>
              <a:avLst/>
              <a:gdLst/>
              <a:ahLst/>
              <a:cxnLst/>
              <a:rect r="r" b="b" t="t" l="l"/>
              <a:pathLst>
                <a:path h="609600" w="660400">
                  <a:moveTo>
                    <a:pt x="0" y="0"/>
                  </a:moveTo>
                  <a:lnTo>
                    <a:pt x="660400" y="0"/>
                  </a:lnTo>
                  <a:lnTo>
                    <a:pt x="6604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8434" t="0" r="-68434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604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481972" y="3455580"/>
            <a:ext cx="759023" cy="30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929522" y="3897521"/>
            <a:ext cx="3196561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5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What the user sees / receives. ]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3147" y="5221496"/>
            <a:ext cx="16804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300">
                <a:solidFill>
                  <a:srgbClr val="8B87A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STACK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990600" y="5593771"/>
            <a:ext cx="1520504" cy="581025"/>
            <a:chOff x="0" y="0"/>
            <a:chExt cx="2027339" cy="7747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027301" cy="774700"/>
            </a:xfrm>
            <a:custGeom>
              <a:avLst/>
              <a:gdLst/>
              <a:ahLst/>
              <a:cxnLst/>
              <a:rect r="r" b="b" t="t" l="l"/>
              <a:pathLst>
                <a:path h="774700" w="2027301">
                  <a:moveTo>
                    <a:pt x="0" y="387350"/>
                  </a:moveTo>
                  <a:cubicBezTo>
                    <a:pt x="0" y="173482"/>
                    <a:pt x="173482" y="0"/>
                    <a:pt x="387350" y="0"/>
                  </a:cubicBezTo>
                  <a:lnTo>
                    <a:pt x="1639951" y="0"/>
                  </a:lnTo>
                  <a:cubicBezTo>
                    <a:pt x="1853819" y="0"/>
                    <a:pt x="2027301" y="173482"/>
                    <a:pt x="2027301" y="387350"/>
                  </a:cubicBezTo>
                  <a:cubicBezTo>
                    <a:pt x="2027301" y="601218"/>
                    <a:pt x="1853946" y="774700"/>
                    <a:pt x="1639951" y="774700"/>
                  </a:cubicBezTo>
                  <a:lnTo>
                    <a:pt x="387350" y="774700"/>
                  </a:lnTo>
                  <a:cubicBezTo>
                    <a:pt x="173482" y="774700"/>
                    <a:pt x="0" y="601218"/>
                    <a:pt x="0" y="38735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EF3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1285084" y="5773946"/>
            <a:ext cx="110259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Anchor ]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2649217" y="5593771"/>
            <a:ext cx="1977923" cy="581025"/>
            <a:chOff x="0" y="0"/>
            <a:chExt cx="2637231" cy="774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37282" cy="774700"/>
            </a:xfrm>
            <a:custGeom>
              <a:avLst/>
              <a:gdLst/>
              <a:ahLst/>
              <a:cxnLst/>
              <a:rect r="r" b="b" t="t" l="l"/>
              <a:pathLst>
                <a:path h="774700" w="2637282">
                  <a:moveTo>
                    <a:pt x="0" y="387350"/>
                  </a:moveTo>
                  <a:cubicBezTo>
                    <a:pt x="0" y="173482"/>
                    <a:pt x="173482" y="0"/>
                    <a:pt x="387350" y="0"/>
                  </a:cubicBezTo>
                  <a:lnTo>
                    <a:pt x="2249932" y="0"/>
                  </a:lnTo>
                  <a:cubicBezTo>
                    <a:pt x="2463800" y="0"/>
                    <a:pt x="2637282" y="173482"/>
                    <a:pt x="2637282" y="387350"/>
                  </a:cubicBezTo>
                  <a:cubicBezTo>
                    <a:pt x="2637282" y="601218"/>
                    <a:pt x="2463800" y="774700"/>
                    <a:pt x="2249932" y="774700"/>
                  </a:cubicBezTo>
                  <a:lnTo>
                    <a:pt x="387350" y="774700"/>
                  </a:lnTo>
                  <a:cubicBezTo>
                    <a:pt x="173482" y="774700"/>
                    <a:pt x="0" y="601218"/>
                    <a:pt x="0" y="38735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EF3"/>
              </a:solidFill>
              <a:prstDash val="solid"/>
              <a:miter/>
            </a:ln>
          </p:spPr>
        </p:sp>
      </p:grpSp>
      <p:sp>
        <p:nvSpPr>
          <p:cNvPr name="TextBox 61" id="61"/>
          <p:cNvSpPr txBox="true"/>
          <p:nvPr/>
        </p:nvSpPr>
        <p:spPr>
          <a:xfrm rot="0">
            <a:off x="2943701" y="5773946"/>
            <a:ext cx="159588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Token-2022 ]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4765253" y="5593771"/>
            <a:ext cx="1240927" cy="581025"/>
            <a:chOff x="0" y="0"/>
            <a:chExt cx="1654569" cy="7747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54556" cy="774700"/>
            </a:xfrm>
            <a:custGeom>
              <a:avLst/>
              <a:gdLst/>
              <a:ahLst/>
              <a:cxnLst/>
              <a:rect r="r" b="b" t="t" l="l"/>
              <a:pathLst>
                <a:path h="774700" w="1654556">
                  <a:moveTo>
                    <a:pt x="0" y="387350"/>
                  </a:moveTo>
                  <a:cubicBezTo>
                    <a:pt x="0" y="173482"/>
                    <a:pt x="173482" y="0"/>
                    <a:pt x="387350" y="0"/>
                  </a:cubicBezTo>
                  <a:lnTo>
                    <a:pt x="1267206" y="0"/>
                  </a:lnTo>
                  <a:cubicBezTo>
                    <a:pt x="1481074" y="0"/>
                    <a:pt x="1654556" y="173482"/>
                    <a:pt x="1654556" y="387350"/>
                  </a:cubicBezTo>
                  <a:cubicBezTo>
                    <a:pt x="1654556" y="601218"/>
                    <a:pt x="1481201" y="774700"/>
                    <a:pt x="1267206" y="774700"/>
                  </a:cubicBezTo>
                  <a:lnTo>
                    <a:pt x="387350" y="774700"/>
                  </a:lnTo>
                  <a:cubicBezTo>
                    <a:pt x="173482" y="774700"/>
                    <a:pt x="0" y="601218"/>
                    <a:pt x="0" y="38735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EF3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5059737" y="5773946"/>
            <a:ext cx="80106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Pyth ]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144292" y="5593771"/>
            <a:ext cx="1825009" cy="581025"/>
            <a:chOff x="0" y="0"/>
            <a:chExt cx="2433345" cy="7747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3320" cy="774700"/>
            </a:xfrm>
            <a:custGeom>
              <a:avLst/>
              <a:gdLst/>
              <a:ahLst/>
              <a:cxnLst/>
              <a:rect r="r" b="b" t="t" l="l"/>
              <a:pathLst>
                <a:path h="774700" w="2433320">
                  <a:moveTo>
                    <a:pt x="0" y="387350"/>
                  </a:moveTo>
                  <a:cubicBezTo>
                    <a:pt x="0" y="173482"/>
                    <a:pt x="173482" y="0"/>
                    <a:pt x="387350" y="0"/>
                  </a:cubicBezTo>
                  <a:lnTo>
                    <a:pt x="2045970" y="0"/>
                  </a:lnTo>
                  <a:cubicBezTo>
                    <a:pt x="2259838" y="0"/>
                    <a:pt x="2433320" y="173482"/>
                    <a:pt x="2433320" y="387350"/>
                  </a:cubicBezTo>
                  <a:cubicBezTo>
                    <a:pt x="2433320" y="601218"/>
                    <a:pt x="2259965" y="774700"/>
                    <a:pt x="2045970" y="774700"/>
                  </a:cubicBezTo>
                  <a:lnTo>
                    <a:pt x="387350" y="774700"/>
                  </a:lnTo>
                  <a:cubicBezTo>
                    <a:pt x="173482" y="774700"/>
                    <a:pt x="0" y="601218"/>
                    <a:pt x="0" y="387350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3DEF3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6438776" y="5773946"/>
            <a:ext cx="14612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your stack ]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7111539" y="9721853"/>
            <a:ext cx="24623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1600" y="566738"/>
            <a:ext cx="163149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5362" y="1197633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7288" y="1359558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16116" y="1158295"/>
            <a:ext cx="5714777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Traction &amp; Proof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0766" y="1973568"/>
            <a:ext cx="15900499" cy="51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Numbers from the last 30 days, plus the on-chain artifacts judges can verify themselves.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0600" y="2853050"/>
            <a:ext cx="5267325" cy="2247900"/>
            <a:chOff x="0" y="0"/>
            <a:chExt cx="7023100" cy="299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23100" cy="2997200"/>
            </a:xfrm>
            <a:custGeom>
              <a:avLst/>
              <a:gdLst/>
              <a:ahLst/>
              <a:cxnLst/>
              <a:rect r="r" b="b" t="t" l="l"/>
              <a:pathLst>
                <a:path h="2997200" w="7023100">
                  <a:moveTo>
                    <a:pt x="0" y="280543"/>
                  </a:moveTo>
                  <a:cubicBezTo>
                    <a:pt x="0" y="125603"/>
                    <a:pt x="125603" y="0"/>
                    <a:pt x="280543" y="0"/>
                  </a:cubicBezTo>
                  <a:lnTo>
                    <a:pt x="6742557" y="0"/>
                  </a:lnTo>
                  <a:cubicBezTo>
                    <a:pt x="6897497" y="0"/>
                    <a:pt x="7023100" y="125603"/>
                    <a:pt x="7023100" y="280543"/>
                  </a:cubicBezTo>
                  <a:lnTo>
                    <a:pt x="7023100" y="2716657"/>
                  </a:lnTo>
                  <a:cubicBezTo>
                    <a:pt x="7023100" y="2871597"/>
                    <a:pt x="6897497" y="2997200"/>
                    <a:pt x="6742557" y="2997200"/>
                  </a:cubicBezTo>
                  <a:lnTo>
                    <a:pt x="280543" y="2997200"/>
                  </a:lnTo>
                  <a:cubicBezTo>
                    <a:pt x="125603" y="2997200"/>
                    <a:pt x="0" y="2871597"/>
                    <a:pt x="0" y="2716657"/>
                  </a:cubicBezTo>
                  <a:close/>
                </a:path>
              </a:pathLst>
            </a:custGeom>
            <a:solidFill>
              <a:srgbClr val="16142E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2527660" y="3197531"/>
            <a:ext cx="219320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b="true" sz="1350" spc="297">
                <a:solidFill>
                  <a:srgbClr val="F3F1FF">
                    <a:alpha val="5490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USERS / WALLETS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11884" y="3530906"/>
            <a:ext cx="222475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i="true" spc="-144">
                <a:solidFill>
                  <a:srgbClr val="14F195">
                    <a:alpha val="54902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## 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3095" y="4569131"/>
            <a:ext cx="124226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i="true">
                <a:solidFill>
                  <a:srgbClr val="F3F1FF">
                    <a:alpha val="49804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short label ]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15100" y="2853050"/>
            <a:ext cx="5267325" cy="2247900"/>
            <a:chOff x="0" y="0"/>
            <a:chExt cx="7023100" cy="299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100" cy="2997200"/>
            </a:xfrm>
            <a:custGeom>
              <a:avLst/>
              <a:gdLst/>
              <a:ahLst/>
              <a:cxnLst/>
              <a:rect r="r" b="b" t="t" l="l"/>
              <a:pathLst>
                <a:path h="2997200" w="7023100">
                  <a:moveTo>
                    <a:pt x="0" y="280543"/>
                  </a:moveTo>
                  <a:cubicBezTo>
                    <a:pt x="0" y="125603"/>
                    <a:pt x="125603" y="0"/>
                    <a:pt x="280543" y="0"/>
                  </a:cubicBezTo>
                  <a:lnTo>
                    <a:pt x="6742557" y="0"/>
                  </a:lnTo>
                  <a:cubicBezTo>
                    <a:pt x="6897497" y="0"/>
                    <a:pt x="7023100" y="125603"/>
                    <a:pt x="7023100" y="280543"/>
                  </a:cubicBezTo>
                  <a:lnTo>
                    <a:pt x="7023100" y="2716657"/>
                  </a:lnTo>
                  <a:cubicBezTo>
                    <a:pt x="7023100" y="2871597"/>
                    <a:pt x="6897497" y="2997200"/>
                    <a:pt x="6742557" y="2997200"/>
                  </a:cubicBezTo>
                  <a:lnTo>
                    <a:pt x="280543" y="2997200"/>
                  </a:lnTo>
                  <a:cubicBezTo>
                    <a:pt x="125603" y="2997200"/>
                    <a:pt x="0" y="2871597"/>
                    <a:pt x="0" y="2716657"/>
                  </a:cubicBezTo>
                  <a:close/>
                </a:path>
              </a:pathLst>
            </a:custGeom>
            <a:solidFill>
              <a:srgbClr val="16142E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8171292" y="3197531"/>
            <a:ext cx="195493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b="true" sz="1350" spc="297">
                <a:solidFill>
                  <a:srgbClr val="F3F1FF">
                    <a:alpha val="5490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ON-CHAIN TXNS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36384" y="3530906"/>
            <a:ext cx="222475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i="true" spc="-144">
                <a:solidFill>
                  <a:srgbClr val="14F195">
                    <a:alpha val="54902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## 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527595" y="4569131"/>
            <a:ext cx="124226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i="true">
                <a:solidFill>
                  <a:srgbClr val="F3F1FF">
                    <a:alpha val="49804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short label ]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39600" y="2853050"/>
            <a:ext cx="5267325" cy="2247900"/>
            <a:chOff x="0" y="0"/>
            <a:chExt cx="7023100" cy="2997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23100" cy="2997200"/>
            </a:xfrm>
            <a:custGeom>
              <a:avLst/>
              <a:gdLst/>
              <a:ahLst/>
              <a:cxnLst/>
              <a:rect r="r" b="b" t="t" l="l"/>
              <a:pathLst>
                <a:path h="2997200" w="7023100">
                  <a:moveTo>
                    <a:pt x="0" y="280543"/>
                  </a:moveTo>
                  <a:cubicBezTo>
                    <a:pt x="0" y="125603"/>
                    <a:pt x="125603" y="0"/>
                    <a:pt x="280543" y="0"/>
                  </a:cubicBezTo>
                  <a:lnTo>
                    <a:pt x="6742557" y="0"/>
                  </a:lnTo>
                  <a:cubicBezTo>
                    <a:pt x="6897497" y="0"/>
                    <a:pt x="7023100" y="125603"/>
                    <a:pt x="7023100" y="280543"/>
                  </a:cubicBezTo>
                  <a:lnTo>
                    <a:pt x="7023100" y="2716657"/>
                  </a:lnTo>
                  <a:cubicBezTo>
                    <a:pt x="7023100" y="2871597"/>
                    <a:pt x="6897497" y="2997200"/>
                    <a:pt x="6742557" y="2997200"/>
                  </a:cubicBezTo>
                  <a:lnTo>
                    <a:pt x="280543" y="2997200"/>
                  </a:lnTo>
                  <a:cubicBezTo>
                    <a:pt x="125603" y="2997200"/>
                    <a:pt x="0" y="2871597"/>
                    <a:pt x="0" y="2716657"/>
                  </a:cubicBezTo>
                  <a:close/>
                </a:path>
              </a:pathLst>
            </a:custGeom>
            <a:solidFill>
              <a:srgbClr val="16142E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4028719" y="3197531"/>
            <a:ext cx="1289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b="true" sz="1350" spc="297">
                <a:solidFill>
                  <a:srgbClr val="F3F1FF">
                    <a:alpha val="54902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DAYS LIVE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60884" y="3530906"/>
            <a:ext cx="2224757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i="true" spc="-144">
                <a:solidFill>
                  <a:srgbClr val="14F195">
                    <a:alpha val="54902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## 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70834" y="4569131"/>
            <a:ext cx="320479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i="true">
                <a:solidFill>
                  <a:srgbClr val="F3F1FF">
                    <a:alpha val="49804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or another metric that matters 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0766" y="5464481"/>
            <a:ext cx="374116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64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PROOF YOU CAN POINT 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5912156"/>
            <a:ext cx="16421357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Deployed program ID on Solana Explorer — </a:t>
            </a:r>
            <a:r>
              <a:rPr lang="en-US" sz="21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paste it here ]</a:t>
            </a: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6423610"/>
            <a:ext cx="16421357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Mainnet (or devnet) link a judge can click during your demo.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930293"/>
            <a:ext cx="16421357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One testimonial, design partner, or LOI — </a:t>
            </a:r>
            <a:r>
              <a:rPr lang="en-US" sz="21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name + quote ]</a:t>
            </a: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111539" y="9721853"/>
            <a:ext cx="24333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1600" y="566738"/>
            <a:ext cx="190120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1147420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2525" y="1309345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11353" y="1108081"/>
            <a:ext cx="8238530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&amp; Go-To-Market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1923355"/>
            <a:ext cx="14665328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Be narrow about who you're for, then specific about how the next thousand users find you.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0600" y="3129858"/>
            <a:ext cx="7981950" cy="6395142"/>
            <a:chOff x="0" y="0"/>
            <a:chExt cx="10642600" cy="8526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42600" cy="8526780"/>
            </a:xfrm>
            <a:custGeom>
              <a:avLst/>
              <a:gdLst/>
              <a:ahLst/>
              <a:cxnLst/>
              <a:rect r="r" b="b" t="t" l="l"/>
              <a:pathLst>
                <a:path h="8526780" w="106426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0363200" y="0"/>
                  </a:lnTo>
                  <a:cubicBezTo>
                    <a:pt x="10517505" y="0"/>
                    <a:pt x="10642600" y="125095"/>
                    <a:pt x="10642600" y="279400"/>
                  </a:cubicBezTo>
                  <a:lnTo>
                    <a:pt x="10642600" y="8247380"/>
                  </a:lnTo>
                  <a:cubicBezTo>
                    <a:pt x="10642600" y="8401686"/>
                    <a:pt x="10517505" y="8526780"/>
                    <a:pt x="10363200" y="8526780"/>
                  </a:cubicBezTo>
                  <a:lnTo>
                    <a:pt x="279400" y="8526780"/>
                  </a:lnTo>
                  <a:cubicBezTo>
                    <a:pt x="125095" y="8526780"/>
                    <a:pt x="0" y="8401686"/>
                    <a:pt x="0" y="82473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3548958"/>
            <a:ext cx="609600" cy="60960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524000" y="3701358"/>
            <a:ext cx="304800" cy="304800"/>
            <a:chOff x="0" y="0"/>
            <a:chExt cx="406400" cy="4064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178053" y="3648618"/>
            <a:ext cx="1842567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0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Who it's for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0853" y="4298252"/>
            <a:ext cx="7061902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First specific customer — </a:t>
            </a:r>
            <a:r>
              <a:rPr lang="en-US" sz="21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persona + use case ]</a:t>
            </a: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0853" y="4828756"/>
            <a:ext cx="7061902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Market size you can name with a source — </a:t>
            </a:r>
            <a:r>
              <a:rPr lang="en-US" sz="21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# ]</a:t>
            </a: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0853" y="5359251"/>
            <a:ext cx="7061902" cy="414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Why they'll switch from whatever they use today.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15450" y="3129858"/>
            <a:ext cx="7981950" cy="6395142"/>
            <a:chOff x="0" y="0"/>
            <a:chExt cx="10642600" cy="8526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42600" cy="8526780"/>
            </a:xfrm>
            <a:custGeom>
              <a:avLst/>
              <a:gdLst/>
              <a:ahLst/>
              <a:cxnLst/>
              <a:rect r="r" b="b" t="t" l="l"/>
              <a:pathLst>
                <a:path h="8526780" w="10642600">
                  <a:moveTo>
                    <a:pt x="0" y="279400"/>
                  </a:moveTo>
                  <a:cubicBezTo>
                    <a:pt x="0" y="125095"/>
                    <a:pt x="125095" y="0"/>
                    <a:pt x="279400" y="0"/>
                  </a:cubicBezTo>
                  <a:lnTo>
                    <a:pt x="10363200" y="0"/>
                  </a:lnTo>
                  <a:cubicBezTo>
                    <a:pt x="10517505" y="0"/>
                    <a:pt x="10642600" y="125095"/>
                    <a:pt x="10642600" y="279400"/>
                  </a:cubicBezTo>
                  <a:lnTo>
                    <a:pt x="10642600" y="8247380"/>
                  </a:lnTo>
                  <a:cubicBezTo>
                    <a:pt x="10642600" y="8401686"/>
                    <a:pt x="10517505" y="8526780"/>
                    <a:pt x="10363200" y="8526780"/>
                  </a:cubicBezTo>
                  <a:lnTo>
                    <a:pt x="279400" y="8526780"/>
                  </a:lnTo>
                  <a:cubicBezTo>
                    <a:pt x="125095" y="8526780"/>
                    <a:pt x="0" y="8401686"/>
                    <a:pt x="0" y="82473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696450" y="3548958"/>
            <a:ext cx="609600" cy="60960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14F195">
                <a:alpha val="2353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48850" y="3701358"/>
            <a:ext cx="304800" cy="304800"/>
            <a:chOff x="0" y="0"/>
            <a:chExt cx="406400" cy="4064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502903" y="3648618"/>
            <a:ext cx="3695700" cy="412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00" b="true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you'll grow &amp; earn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35163" y="4298252"/>
            <a:ext cx="7432043" cy="131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Revenue model and what makes it sustainable.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Concrete plan for your first 100–1,000 users.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3D3458"/>
                </a:solidFill>
                <a:latin typeface="Montserrat"/>
                <a:ea typeface="Montserrat"/>
                <a:cs typeface="Montserrat"/>
                <a:sym typeface="Montserrat"/>
              </a:rPr>
              <a:t>Channel or distribution advantage only you have.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111539" y="9721853"/>
            <a:ext cx="25018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471488"/>
            <a:ext cx="1669104" cy="433388"/>
            <a:chOff x="0" y="0"/>
            <a:chExt cx="2225472" cy="577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5421" cy="577850"/>
            </a:xfrm>
            <a:custGeom>
              <a:avLst/>
              <a:gdLst/>
              <a:ahLst/>
              <a:cxnLst/>
              <a:rect r="r" b="b" t="t" l="l"/>
              <a:pathLst>
                <a:path h="577850" w="2225421">
                  <a:moveTo>
                    <a:pt x="0" y="288925"/>
                  </a:moveTo>
                  <a:cubicBezTo>
                    <a:pt x="0" y="129413"/>
                    <a:pt x="129413" y="0"/>
                    <a:pt x="288925" y="0"/>
                  </a:cubicBezTo>
                  <a:lnTo>
                    <a:pt x="1936496" y="0"/>
                  </a:lnTo>
                  <a:cubicBezTo>
                    <a:pt x="2096008" y="0"/>
                    <a:pt x="2225421" y="129413"/>
                    <a:pt x="2225421" y="288925"/>
                  </a:cubicBezTo>
                  <a:cubicBezTo>
                    <a:pt x="2225421" y="448437"/>
                    <a:pt x="2096135" y="577850"/>
                    <a:pt x="1936496" y="577850"/>
                  </a:cubicBezTo>
                  <a:lnTo>
                    <a:pt x="288925" y="577850"/>
                  </a:lnTo>
                  <a:cubicBezTo>
                    <a:pt x="129413" y="577850"/>
                    <a:pt x="0" y="448437"/>
                    <a:pt x="0" y="288925"/>
                  </a:cubicBezTo>
                  <a:close/>
                </a:path>
              </a:pathLst>
            </a:custGeom>
            <a:solidFill>
              <a:srgbClr val="512DA8">
                <a:alpha val="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0150" y="650081"/>
            <a:ext cx="76200" cy="76200"/>
            <a:chOff x="0" y="0"/>
            <a:chExt cx="101600" cy="10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cubicBezTo>
                    <a:pt x="101600" y="78867"/>
                    <a:pt x="78867" y="101600"/>
                    <a:pt x="50800" y="101600"/>
                  </a:cubicBezTo>
                  <a:cubicBezTo>
                    <a:pt x="22733" y="101600"/>
                    <a:pt x="0" y="78867"/>
                    <a:pt x="0" y="5080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71600" y="566738"/>
            <a:ext cx="178457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3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08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0600" y="1430899"/>
            <a:ext cx="666750" cy="666750"/>
            <a:chOff x="0" y="0"/>
            <a:chExt cx="889000" cy="88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9000" cy="889000"/>
            </a:xfrm>
            <a:custGeom>
              <a:avLst/>
              <a:gdLst/>
              <a:ahLst/>
              <a:cxnLst/>
              <a:rect r="r" b="b" t="t" l="l"/>
              <a:pathLst>
                <a:path h="889000" w="889000">
                  <a:moveTo>
                    <a:pt x="0" y="444500"/>
                  </a:moveTo>
                  <a:cubicBezTo>
                    <a:pt x="0" y="199009"/>
                    <a:pt x="199009" y="0"/>
                    <a:pt x="444500" y="0"/>
                  </a:cubicBezTo>
                  <a:cubicBezTo>
                    <a:pt x="689991" y="0"/>
                    <a:pt x="889000" y="199009"/>
                    <a:pt x="889000" y="444500"/>
                  </a:cubicBezTo>
                  <a:cubicBezTo>
                    <a:pt x="889000" y="689991"/>
                    <a:pt x="689991" y="889000"/>
                    <a:pt x="444500" y="889000"/>
                  </a:cubicBezTo>
                  <a:cubicBezTo>
                    <a:pt x="199009" y="889000"/>
                    <a:pt x="0" y="689991"/>
                    <a:pt x="0" y="4445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52525" y="1592824"/>
            <a:ext cx="342900" cy="342900"/>
            <a:chOff x="0" y="0"/>
            <a:chExt cx="457200" cy="4572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11353" y="1391560"/>
            <a:ext cx="9435926" cy="85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b="true" sz="5400" spc="-54">
                <a:solidFill>
                  <a:srgbClr val="1A133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Team, Roadmap &amp; The Ask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2359234"/>
            <a:ext cx="14312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TEAM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57350" y="2776752"/>
            <a:ext cx="1200150" cy="1200150"/>
            <a:chOff x="0" y="0"/>
            <a:chExt cx="1600200" cy="1600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00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600200">
                  <a:moveTo>
                    <a:pt x="0" y="800100"/>
                  </a:moveTo>
                  <a:cubicBezTo>
                    <a:pt x="0" y="358267"/>
                    <a:pt x="358267" y="0"/>
                    <a:pt x="800100" y="0"/>
                  </a:cubicBezTo>
                  <a:cubicBezTo>
                    <a:pt x="1241933" y="0"/>
                    <a:pt x="1600200" y="358267"/>
                    <a:pt x="1600200" y="800100"/>
                  </a:cubicBezTo>
                  <a:cubicBezTo>
                    <a:pt x="1600200" y="1241933"/>
                    <a:pt x="1241933" y="1600200"/>
                    <a:pt x="800100" y="1600200"/>
                  </a:cubicBezTo>
                  <a:cubicBezTo>
                    <a:pt x="358267" y="1600200"/>
                    <a:pt x="0" y="1241933"/>
                    <a:pt x="0" y="800100"/>
                  </a:cubicBezTo>
                  <a:close/>
                </a:path>
              </a:pathLst>
            </a:custGeom>
            <a:solidFill>
              <a:srgbClr val="E7E2F9"/>
            </a:solidFill>
            <a:ln w="19050" cap="sq">
              <a:solidFill>
                <a:srgbClr val="512DA8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047875" y="3167277"/>
            <a:ext cx="419100" cy="419100"/>
            <a:chOff x="0" y="0"/>
            <a:chExt cx="558800" cy="55880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805099" y="4126121"/>
            <a:ext cx="9046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Name 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67322" y="4369009"/>
            <a:ext cx="58020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Role ]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81500" y="2776752"/>
            <a:ext cx="1200150" cy="1200150"/>
            <a:chOff x="0" y="0"/>
            <a:chExt cx="1600200" cy="1600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00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600200">
                  <a:moveTo>
                    <a:pt x="0" y="800100"/>
                  </a:moveTo>
                  <a:cubicBezTo>
                    <a:pt x="0" y="358267"/>
                    <a:pt x="358267" y="0"/>
                    <a:pt x="800100" y="0"/>
                  </a:cubicBezTo>
                  <a:cubicBezTo>
                    <a:pt x="1241933" y="0"/>
                    <a:pt x="1600200" y="358267"/>
                    <a:pt x="1600200" y="800100"/>
                  </a:cubicBezTo>
                  <a:cubicBezTo>
                    <a:pt x="1600200" y="1241933"/>
                    <a:pt x="1241933" y="1600200"/>
                    <a:pt x="800100" y="1600200"/>
                  </a:cubicBezTo>
                  <a:cubicBezTo>
                    <a:pt x="358267" y="1600200"/>
                    <a:pt x="0" y="1241933"/>
                    <a:pt x="0" y="800100"/>
                  </a:cubicBezTo>
                  <a:close/>
                </a:path>
              </a:pathLst>
            </a:custGeom>
            <a:solidFill>
              <a:srgbClr val="E7E2F9"/>
            </a:solidFill>
            <a:ln w="19050" cap="sq">
              <a:solidFill>
                <a:srgbClr val="512DA8"/>
              </a:solidFill>
              <a:prstDash val="dash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772025" y="3167277"/>
            <a:ext cx="419100" cy="419100"/>
            <a:chOff x="0" y="0"/>
            <a:chExt cx="558800" cy="558800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529249" y="4126121"/>
            <a:ext cx="9046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Name 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91472" y="4369009"/>
            <a:ext cx="58020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Role ]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105650" y="2776752"/>
            <a:ext cx="1200150" cy="1200150"/>
            <a:chOff x="0" y="0"/>
            <a:chExt cx="1600200" cy="1600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00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600200">
                  <a:moveTo>
                    <a:pt x="0" y="800100"/>
                  </a:moveTo>
                  <a:cubicBezTo>
                    <a:pt x="0" y="358267"/>
                    <a:pt x="358267" y="0"/>
                    <a:pt x="800100" y="0"/>
                  </a:cubicBezTo>
                  <a:cubicBezTo>
                    <a:pt x="1241933" y="0"/>
                    <a:pt x="1600200" y="358267"/>
                    <a:pt x="1600200" y="800100"/>
                  </a:cubicBezTo>
                  <a:cubicBezTo>
                    <a:pt x="1600200" y="1241933"/>
                    <a:pt x="1241933" y="1600200"/>
                    <a:pt x="800100" y="1600200"/>
                  </a:cubicBezTo>
                  <a:cubicBezTo>
                    <a:pt x="358267" y="1600200"/>
                    <a:pt x="0" y="1241933"/>
                    <a:pt x="0" y="800100"/>
                  </a:cubicBezTo>
                  <a:close/>
                </a:path>
              </a:pathLst>
            </a:custGeom>
            <a:solidFill>
              <a:srgbClr val="E7E2F9"/>
            </a:solidFill>
            <a:ln w="19050" cap="sq">
              <a:solidFill>
                <a:srgbClr val="512DA8"/>
              </a:solidFill>
              <a:prstDash val="dash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496175" y="3167277"/>
            <a:ext cx="419100" cy="419100"/>
            <a:chOff x="0" y="0"/>
            <a:chExt cx="558800" cy="5588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0" y="0"/>
                  </a:moveTo>
                  <a:lnTo>
                    <a:pt x="558800" y="0"/>
                  </a:lnTo>
                  <a:lnTo>
                    <a:pt x="558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7253399" y="4126121"/>
            <a:ext cx="9046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Name 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15622" y="4369009"/>
            <a:ext cx="58020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Role 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0853" y="2359234"/>
            <a:ext cx="194823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7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WHAT'S NEXT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15450" y="2786277"/>
            <a:ext cx="1162050" cy="342900"/>
            <a:chOff x="0" y="0"/>
            <a:chExt cx="1549400" cy="457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49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49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320800" y="0"/>
                  </a:lnTo>
                  <a:cubicBezTo>
                    <a:pt x="1447038" y="0"/>
                    <a:pt x="1549400" y="102362"/>
                    <a:pt x="1549400" y="228600"/>
                  </a:cubicBezTo>
                  <a:cubicBezTo>
                    <a:pt x="1549400" y="354838"/>
                    <a:pt x="1447038" y="457200"/>
                    <a:pt x="1320800" y="457200"/>
                  </a:cubicBez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512DA8">
                <a:alpha val="1176"/>
              </a:srgbClr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559942" y="2859296"/>
            <a:ext cx="67307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500" spc="75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Now →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74353" y="2764046"/>
            <a:ext cx="4163812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What ships this month. ]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15450" y="3315801"/>
            <a:ext cx="1162050" cy="342900"/>
            <a:chOff x="0" y="0"/>
            <a:chExt cx="154940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49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49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320800" y="0"/>
                  </a:lnTo>
                  <a:cubicBezTo>
                    <a:pt x="1447038" y="0"/>
                    <a:pt x="1549400" y="102362"/>
                    <a:pt x="1549400" y="228600"/>
                  </a:cubicBezTo>
                  <a:cubicBezTo>
                    <a:pt x="1549400" y="354838"/>
                    <a:pt x="1447038" y="457200"/>
                    <a:pt x="1320800" y="457200"/>
                  </a:cubicBez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DC1FFF">
                <a:alpha val="1176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548594" y="3388829"/>
            <a:ext cx="69577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500" spc="75">
                <a:solidFill>
                  <a:srgbClr val="DC1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 →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74353" y="3293579"/>
            <a:ext cx="4707130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What ships in the next quarter. ]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315450" y="3845334"/>
            <a:ext cx="1162050" cy="342900"/>
            <a:chOff x="0" y="0"/>
            <a:chExt cx="1549400" cy="457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49400" cy="457200"/>
            </a:xfrm>
            <a:custGeom>
              <a:avLst/>
              <a:gdLst/>
              <a:ahLst/>
              <a:cxnLst/>
              <a:rect r="r" b="b" t="t" l="l"/>
              <a:pathLst>
                <a:path h="457200" w="1549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320800" y="0"/>
                  </a:lnTo>
                  <a:cubicBezTo>
                    <a:pt x="1447038" y="0"/>
                    <a:pt x="1549400" y="102362"/>
                    <a:pt x="1549400" y="228600"/>
                  </a:cubicBezTo>
                  <a:cubicBezTo>
                    <a:pt x="1549400" y="354838"/>
                    <a:pt x="1447038" y="457200"/>
                    <a:pt x="1320800" y="457200"/>
                  </a:cubicBezTo>
                  <a:lnTo>
                    <a:pt x="228600" y="457200"/>
                  </a:ln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14F195">
                <a:alpha val="3922"/>
              </a:srgbClr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520131" y="3918362"/>
            <a:ext cx="75269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b="true" sz="1500" spc="75">
                <a:solidFill>
                  <a:srgbClr val="0B8A5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Later →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74353" y="3823112"/>
            <a:ext cx="6936717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1800" i="true">
                <a:solidFill>
                  <a:srgbClr val="9B97B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The bigger vision once the foundation works. ]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90600" y="4891302"/>
            <a:ext cx="16306800" cy="1185862"/>
            <a:chOff x="0" y="0"/>
            <a:chExt cx="21742400" cy="15811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424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742400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21488400" y="0"/>
                  </a:lnTo>
                  <a:cubicBezTo>
                    <a:pt x="21628736" y="0"/>
                    <a:pt x="21742400" y="113665"/>
                    <a:pt x="21742400" y="254000"/>
                  </a:cubicBezTo>
                  <a:lnTo>
                    <a:pt x="21742400" y="1327150"/>
                  </a:lnTo>
                  <a:cubicBezTo>
                    <a:pt x="21742400" y="1467485"/>
                    <a:pt x="21628736" y="1581150"/>
                    <a:pt x="21488400" y="1581150"/>
                  </a:cubicBezTo>
                  <a:lnTo>
                    <a:pt x="254000" y="1581150"/>
                  </a:lnTo>
                  <a:cubicBezTo>
                    <a:pt x="113665" y="1581150"/>
                    <a:pt x="0" y="1467485"/>
                    <a:pt x="0" y="1327150"/>
                  </a:cubicBezTo>
                  <a:close/>
                </a:path>
              </a:pathLst>
            </a:custGeom>
            <a:solidFill>
              <a:srgbClr val="512DA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33500" y="5179434"/>
            <a:ext cx="609600" cy="609600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406400"/>
                  </a:moveTo>
                  <a:cubicBezTo>
                    <a:pt x="0" y="181991"/>
                    <a:pt x="181991" y="0"/>
                    <a:pt x="406400" y="0"/>
                  </a:cubicBezTo>
                  <a:cubicBezTo>
                    <a:pt x="630809" y="0"/>
                    <a:pt x="812800" y="181991"/>
                    <a:pt x="812800" y="406400"/>
                  </a:cubicBezTo>
                  <a:cubicBezTo>
                    <a:pt x="812800" y="630809"/>
                    <a:pt x="630809" y="812800"/>
                    <a:pt x="406400" y="812800"/>
                  </a:cubicBezTo>
                  <a:cubicBezTo>
                    <a:pt x="181991" y="812800"/>
                    <a:pt x="0" y="630809"/>
                    <a:pt x="0" y="406400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76375" y="5322309"/>
            <a:ext cx="323850" cy="323850"/>
            <a:chOff x="0" y="0"/>
            <a:chExt cx="431800" cy="43180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0" y="0"/>
                  </a:moveTo>
                  <a:lnTo>
                    <a:pt x="431800" y="0"/>
                  </a:lnTo>
                  <a:lnTo>
                    <a:pt x="431800" y="431800"/>
                  </a:lnTo>
                  <a:lnTo>
                    <a:pt x="0" y="43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2235203" y="5173871"/>
            <a:ext cx="124703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b="true" sz="1500" spc="330">
                <a:solidFill>
                  <a:srgbClr val="14F19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ASK: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35203" y="5378659"/>
            <a:ext cx="14067532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0"/>
              </a:lnSpc>
            </a:pPr>
            <a:r>
              <a:rPr lang="en-US" sz="2250" i="true">
                <a:solidFill>
                  <a:srgbClr val="FFFFFF">
                    <a:alpha val="60000"/>
                  </a:srgbClr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State exactly what you want — funding amount, partner intros, first 100 users, hires. Be specific. ]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16003" y="9724234"/>
            <a:ext cx="4802163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81">
                <a:solidFill>
                  <a:srgbClr val="8B87A3"/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 — Demo Day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111539" y="9721853"/>
            <a:ext cx="24623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b="true" sz="1350" spc="81">
                <a:solidFill>
                  <a:srgbClr val="512DA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54000" y="-2095500"/>
            <a:ext cx="7239000" cy="7239000"/>
            <a:chOff x="0" y="0"/>
            <a:chExt cx="9652000" cy="96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9652000">
                  <a:moveTo>
                    <a:pt x="0" y="4826000"/>
                  </a:moveTo>
                  <a:cubicBezTo>
                    <a:pt x="0" y="2160651"/>
                    <a:pt x="2160651" y="0"/>
                    <a:pt x="4826000" y="0"/>
                  </a:cubicBezTo>
                  <a:cubicBezTo>
                    <a:pt x="7491349" y="0"/>
                    <a:pt x="9652000" y="2160651"/>
                    <a:pt x="9652000" y="4826000"/>
                  </a:cubicBezTo>
                  <a:cubicBezTo>
                    <a:pt x="9652000" y="7491349"/>
                    <a:pt x="7491349" y="9652000"/>
                    <a:pt x="4826000" y="9652000"/>
                  </a:cubicBezTo>
                  <a:cubicBezTo>
                    <a:pt x="2160651" y="9652000"/>
                    <a:pt x="0" y="7491349"/>
                    <a:pt x="0" y="4826000"/>
                  </a:cubicBezTo>
                  <a:close/>
                </a:path>
              </a:pathLst>
            </a:custGeom>
            <a:solidFill>
              <a:srgbClr val="512DA8">
                <a:alpha val="51765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524000" y="6096000"/>
            <a:ext cx="5905500" cy="5905500"/>
            <a:chOff x="0" y="0"/>
            <a:chExt cx="7874000" cy="7874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874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7874000">
                  <a:moveTo>
                    <a:pt x="0" y="3937000"/>
                  </a:moveTo>
                  <a:cubicBezTo>
                    <a:pt x="0" y="1762633"/>
                    <a:pt x="1762633" y="0"/>
                    <a:pt x="3937000" y="0"/>
                  </a:cubicBezTo>
                  <a:cubicBezTo>
                    <a:pt x="6111367" y="0"/>
                    <a:pt x="7874000" y="1762633"/>
                    <a:pt x="7874000" y="3937000"/>
                  </a:cubicBezTo>
                  <a:cubicBezTo>
                    <a:pt x="7874000" y="6111367"/>
                    <a:pt x="6111367" y="7874000"/>
                    <a:pt x="3937000" y="7874000"/>
                  </a:cubicBezTo>
                  <a:cubicBezTo>
                    <a:pt x="1762633" y="7874000"/>
                    <a:pt x="0" y="6111367"/>
                    <a:pt x="0" y="3937000"/>
                  </a:cubicBezTo>
                  <a:close/>
                </a:path>
              </a:pathLst>
            </a:custGeom>
            <a:solidFill>
              <a:srgbClr val="DC1FFF">
                <a:alpha val="14118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05400" y="4320483"/>
            <a:ext cx="4953000" cy="4953000"/>
            <a:chOff x="0" y="0"/>
            <a:chExt cx="6604000" cy="660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0" y="3302000"/>
                  </a:moveTo>
                  <a:cubicBezTo>
                    <a:pt x="0" y="1478407"/>
                    <a:pt x="1478407" y="0"/>
                    <a:pt x="3302000" y="0"/>
                  </a:cubicBezTo>
                  <a:cubicBezTo>
                    <a:pt x="5125593" y="0"/>
                    <a:pt x="6604000" y="1478407"/>
                    <a:pt x="6604000" y="3302000"/>
                  </a:cubicBezTo>
                  <a:cubicBezTo>
                    <a:pt x="6604000" y="5125593"/>
                    <a:pt x="5125593" y="6604000"/>
                    <a:pt x="3302000" y="6604000"/>
                  </a:cubicBezTo>
                  <a:cubicBezTo>
                    <a:pt x="1478407" y="6604000"/>
                    <a:pt x="0" y="5125593"/>
                    <a:pt x="0" y="3302000"/>
                  </a:cubicBezTo>
                  <a:close/>
                </a:path>
              </a:pathLst>
            </a:custGeom>
            <a:solidFill>
              <a:srgbClr val="14F195">
                <a:alpha val="4706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03691" y="0"/>
            <a:ext cx="5019084" cy="5019084"/>
          </a:xfrm>
          <a:custGeom>
            <a:avLst/>
            <a:gdLst/>
            <a:ahLst/>
            <a:cxnLst/>
            <a:rect r="r" b="b" t="t" l="l"/>
            <a:pathLst>
              <a:path h="5019084" w="5019084">
                <a:moveTo>
                  <a:pt x="0" y="0"/>
                </a:moveTo>
                <a:lnTo>
                  <a:pt x="5019085" y="0"/>
                </a:lnTo>
                <a:lnTo>
                  <a:pt x="5019085" y="5019084"/>
                </a:lnTo>
                <a:lnTo>
                  <a:pt x="0" y="501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16003" y="3218659"/>
            <a:ext cx="10595670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b="true" sz="15000" spc="-3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6003" y="5371309"/>
            <a:ext cx="10277475" cy="54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000" i="true">
                <a:solidFill>
                  <a:srgbClr val="14F195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Project name ] · We're happy to take your questions.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6003" y="6723859"/>
            <a:ext cx="106888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97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WEBSITE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003" y="7000084"/>
            <a:ext cx="200166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682A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yourproject.xyz 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59997" y="6723859"/>
            <a:ext cx="150242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97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59997" y="7000084"/>
            <a:ext cx="183341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682A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@yourhandle 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76725" y="6723859"/>
            <a:ext cx="111360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spc="297">
                <a:solidFill>
                  <a:srgbClr val="F3F1FF">
                    <a:alpha val="49804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76725" y="7000084"/>
            <a:ext cx="326372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8682A8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[ founders@yourproject.xyz 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6003" y="9621841"/>
            <a:ext cx="53517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270">
                <a:solidFill>
                  <a:srgbClr val="F3F1FF">
                    <a:alpha val="44706"/>
                  </a:srgbClr>
                </a:solidFill>
                <a:latin typeface="Montserrat"/>
                <a:ea typeface="Montserrat"/>
                <a:cs typeface="Montserrat"/>
                <a:sym typeface="Montserrat"/>
              </a:rPr>
              <a:t>BUILD ON SOLANA WITH KAST · PAKISTAN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DAHK-F5GopY</dc:identifier>
  <dcterms:modified xsi:type="dcterms:W3CDTF">2011-08-01T06:04:30Z</dcterms:modified>
  <cp:revision>1</cp:revision>
  <dc:title>Demo Day Presentation Template</dc:title>
</cp:coreProperties>
</file>